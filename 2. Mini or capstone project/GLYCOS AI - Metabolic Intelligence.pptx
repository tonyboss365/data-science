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DM Sans Medium"/>
      <p:regular r:id="rId15"/>
      <p:bold r:id="rId16"/>
      <p:italic r:id="rId17"/>
      <p:boldItalic r:id="rId18"/>
    </p:embeddedFont>
    <p:embeddedFont>
      <p:font typeface="Poppins"/>
      <p:regular r:id="rId19"/>
      <p:bold r:id="rId20"/>
      <p:italic r:id="rId21"/>
      <p:boldItalic r:id="rId22"/>
    </p:embeddedFont>
    <p:embeddedFont>
      <p:font typeface="Poppins SemiBold"/>
      <p:regular r:id="rId23"/>
      <p:bold r:id="rId24"/>
      <p:italic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SemiBold-bold.fntdata"/><Relationship Id="rId23" Type="http://schemas.openxmlformats.org/officeDocument/2006/relationships/font" Target="fonts/Poppi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SemiBold-boldItalic.fntdata"/><Relationship Id="rId25" Type="http://schemas.openxmlformats.org/officeDocument/2006/relationships/font" Target="fonts/PoppinsSemiBold-italic.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DMSansMedium-regular.fntdata"/><Relationship Id="rId14" Type="http://schemas.openxmlformats.org/officeDocument/2006/relationships/slide" Target="slides/slide9.xml"/><Relationship Id="rId17" Type="http://schemas.openxmlformats.org/officeDocument/2006/relationships/font" Target="fonts/DMSansMedium-italic.fntdata"/><Relationship Id="rId16" Type="http://schemas.openxmlformats.org/officeDocument/2006/relationships/font" Target="fonts/DMSansMedium-bold.fntdata"/><Relationship Id="rId19" Type="http://schemas.openxmlformats.org/officeDocument/2006/relationships/font" Target="fonts/Poppins-regular.fntdata"/><Relationship Id="rId18" Type="http://schemas.openxmlformats.org/officeDocument/2006/relationships/font" Target="fonts/DMSans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 Id="rId11" Type="http://schemas.openxmlformats.org/officeDocument/2006/relationships/image" Target="../media/image3.png"/><Relationship Id="rId10" Type="http://schemas.openxmlformats.org/officeDocument/2006/relationships/image" Target="../media/image1.png"/><Relationship Id="rId12"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23.png"/><Relationship Id="rId7" Type="http://schemas.openxmlformats.org/officeDocument/2006/relationships/image" Target="../media/image13.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7.png"/><Relationship Id="rId9"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1.png"/><Relationship Id="rId7" Type="http://schemas.openxmlformats.org/officeDocument/2006/relationships/image" Target="../media/image29.png"/><Relationship Id="rId8"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 Id="rId10" Type="http://schemas.openxmlformats.org/officeDocument/2006/relationships/image" Target="../media/image22.png"/><Relationship Id="rId9"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15.png"/><Relationship Id="rId7" Type="http://schemas.openxmlformats.org/officeDocument/2006/relationships/image" Target="../media/image19.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3257550" y="4027140"/>
            <a:ext cx="5676900" cy="1401960"/>
          </a:xfrm>
          <a:prstGeom prst="rect">
            <a:avLst/>
          </a:prstGeom>
          <a:noFill/>
          <a:ln>
            <a:noFill/>
          </a:ln>
        </p:spPr>
      </p:pic>
      <p:sp>
        <p:nvSpPr>
          <p:cNvPr id="86" name="Google Shape;86;p13"/>
          <p:cNvSpPr txBox="1"/>
          <p:nvPr/>
        </p:nvSpPr>
        <p:spPr>
          <a:xfrm>
            <a:off x="4240768" y="1428898"/>
            <a:ext cx="3710463" cy="82287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12130D"/>
                </a:solidFill>
                <a:latin typeface="Poppins"/>
                <a:ea typeface="Poppins"/>
                <a:cs typeface="Poppins"/>
                <a:sym typeface="Poppins"/>
              </a:rPr>
              <a:t>GLYCOS </a:t>
            </a:r>
            <a:r>
              <a:rPr b="1" i="0" lang="en-US" sz="5400" u="none" cap="none" strike="noStrike">
                <a:solidFill>
                  <a:srgbClr val="D96846"/>
                </a:solidFill>
                <a:latin typeface="Poppins"/>
                <a:ea typeface="Poppins"/>
                <a:cs typeface="Poppins"/>
                <a:sym typeface="Poppins"/>
              </a:rPr>
              <a:t>AI</a:t>
            </a:r>
            <a:endParaRPr/>
          </a:p>
        </p:txBody>
      </p:sp>
      <p:sp>
        <p:nvSpPr>
          <p:cNvPr id="87" name="Google Shape;87;p13"/>
          <p:cNvSpPr txBox="1"/>
          <p:nvPr/>
        </p:nvSpPr>
        <p:spPr>
          <a:xfrm>
            <a:off x="3878995" y="2438875"/>
            <a:ext cx="44340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12130D"/>
                </a:solidFill>
                <a:latin typeface="DM Sans Medium"/>
                <a:ea typeface="DM Sans Medium"/>
                <a:cs typeface="DM Sans Medium"/>
                <a:sym typeface="DM Sans Medium"/>
              </a:rPr>
              <a:t>Healthcare Diagnosis Support</a:t>
            </a:r>
            <a:endParaRPr/>
          </a:p>
        </p:txBody>
      </p:sp>
      <p:sp>
        <p:nvSpPr>
          <p:cNvPr id="88" name="Google Shape;88;p13"/>
          <p:cNvSpPr txBox="1"/>
          <p:nvPr/>
        </p:nvSpPr>
        <p:spPr>
          <a:xfrm>
            <a:off x="4133850" y="2903190"/>
            <a:ext cx="39243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C4323"/>
                </a:solidFill>
                <a:latin typeface="DM Sans"/>
                <a:ea typeface="DM Sans"/>
                <a:cs typeface="DM Sans"/>
                <a:sym typeface="DM Sans"/>
              </a:rPr>
              <a:t>A Client-Side Metabolic Intelligence Platform</a:t>
            </a:r>
            <a:endParaRPr/>
          </a:p>
        </p:txBody>
      </p:sp>
      <p:sp>
        <p:nvSpPr>
          <p:cNvPr id="89" name="Google Shape;89;p13"/>
          <p:cNvSpPr/>
          <p:nvPr/>
        </p:nvSpPr>
        <p:spPr>
          <a:xfrm>
            <a:off x="5524500" y="3636615"/>
            <a:ext cx="1143000" cy="57150"/>
          </a:xfrm>
          <a:prstGeom prst="rect">
            <a:avLst/>
          </a:prstGeom>
          <a:solidFill>
            <a:srgbClr val="38808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3648075" y="4274790"/>
            <a:ext cx="2740342"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88087"/>
                </a:solidFill>
                <a:latin typeface="Poppins"/>
                <a:ea typeface="Poppins"/>
                <a:cs typeface="Poppins"/>
                <a:sym typeface="Poppins"/>
              </a:rPr>
              <a:t>PRESENTED BY</a:t>
            </a:r>
            <a:endParaRPr/>
          </a:p>
        </p:txBody>
      </p:sp>
      <p:sp>
        <p:nvSpPr>
          <p:cNvPr id="91" name="Google Shape;91;p13"/>
          <p:cNvSpPr txBox="1"/>
          <p:nvPr/>
        </p:nvSpPr>
        <p:spPr>
          <a:xfrm>
            <a:off x="3648075" y="4646265"/>
            <a:ext cx="26098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12130D"/>
                </a:solidFill>
                <a:latin typeface="DM Sans"/>
                <a:ea typeface="DM Sans"/>
                <a:cs typeface="DM Sans"/>
                <a:sym typeface="DM Sans"/>
              </a:rPr>
              <a:t>Eshwar Miyyapuram</a:t>
            </a:r>
            <a:r>
              <a:rPr b="0" i="0" lang="en-US" sz="1200" u="none" cap="none" strike="noStrike">
                <a:solidFill>
                  <a:srgbClr val="2F3020"/>
                </a:solidFill>
                <a:latin typeface="DM Sans"/>
                <a:ea typeface="DM Sans"/>
                <a:cs typeface="DM Sans"/>
                <a:sym typeface="DM Sans"/>
              </a:rPr>
              <a:t> (2420030644)</a:t>
            </a:r>
            <a:endParaRPr/>
          </a:p>
        </p:txBody>
      </p:sp>
      <p:sp>
        <p:nvSpPr>
          <p:cNvPr id="92" name="Google Shape;92;p13"/>
          <p:cNvSpPr txBox="1"/>
          <p:nvPr/>
        </p:nvSpPr>
        <p:spPr>
          <a:xfrm>
            <a:off x="3648075" y="4937670"/>
            <a:ext cx="26098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12130D"/>
                </a:solidFill>
                <a:latin typeface="DM Sans"/>
                <a:ea typeface="DM Sans"/>
                <a:cs typeface="DM Sans"/>
                <a:sym typeface="DM Sans"/>
              </a:rPr>
              <a:t>Akshay Kumar</a:t>
            </a:r>
            <a:r>
              <a:rPr b="0" i="0" lang="en-US" sz="1200" u="none" cap="none" strike="noStrike">
                <a:solidFill>
                  <a:srgbClr val="2F3020"/>
                </a:solidFill>
                <a:latin typeface="DM Sans"/>
                <a:ea typeface="DM Sans"/>
                <a:cs typeface="DM Sans"/>
                <a:sym typeface="DM Sans"/>
              </a:rPr>
              <a:t> (2420030604)</a:t>
            </a:r>
            <a:endParaRPr/>
          </a:p>
        </p:txBody>
      </p:sp>
      <p:sp>
        <p:nvSpPr>
          <p:cNvPr id="93" name="Google Shape;93;p13"/>
          <p:cNvSpPr txBox="1"/>
          <p:nvPr/>
        </p:nvSpPr>
        <p:spPr>
          <a:xfrm>
            <a:off x="6734175" y="4274790"/>
            <a:ext cx="1900237"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88087"/>
                </a:solidFill>
                <a:latin typeface="Poppins"/>
                <a:ea typeface="Poppins"/>
                <a:cs typeface="Poppins"/>
                <a:sym typeface="Poppins"/>
              </a:rPr>
              <a:t>COURSE DETAILS</a:t>
            </a:r>
            <a:endParaRPr/>
          </a:p>
        </p:txBody>
      </p:sp>
      <p:sp>
        <p:nvSpPr>
          <p:cNvPr id="94" name="Google Shape;94;p13"/>
          <p:cNvSpPr txBox="1"/>
          <p:nvPr/>
        </p:nvSpPr>
        <p:spPr>
          <a:xfrm>
            <a:off x="6734175" y="4646265"/>
            <a:ext cx="18097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12130D"/>
                </a:solidFill>
                <a:latin typeface="DM Sans"/>
                <a:ea typeface="DM Sans"/>
                <a:cs typeface="DM Sans"/>
                <a:sym typeface="DM Sans"/>
              </a:rPr>
              <a:t>Subject:</a:t>
            </a:r>
            <a:r>
              <a:rPr b="0" i="0" lang="en-US" sz="1200" u="none" cap="none" strike="noStrike">
                <a:solidFill>
                  <a:srgbClr val="2F3020"/>
                </a:solidFill>
                <a:latin typeface="DM Sans"/>
                <a:ea typeface="DM Sans"/>
                <a:cs typeface="DM Sans"/>
                <a:sym typeface="DM Sans"/>
              </a:rPr>
              <a:t> Data Science</a:t>
            </a:r>
            <a:endParaRPr/>
          </a:p>
        </p:txBody>
      </p:sp>
      <p:sp>
        <p:nvSpPr>
          <p:cNvPr id="95" name="Google Shape;95;p13"/>
          <p:cNvSpPr txBox="1"/>
          <p:nvPr/>
        </p:nvSpPr>
        <p:spPr>
          <a:xfrm>
            <a:off x="6734175" y="4937670"/>
            <a:ext cx="18097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12130D"/>
                </a:solidFill>
                <a:latin typeface="DM Sans"/>
                <a:ea typeface="DM Sans"/>
                <a:cs typeface="DM Sans"/>
                <a:sym typeface="DM Sans"/>
              </a:rPr>
              <a:t>Faculty:</a:t>
            </a:r>
            <a:r>
              <a:rPr b="0" i="0" lang="en-US" sz="1200" u="none" cap="none" strike="noStrike">
                <a:solidFill>
                  <a:srgbClr val="2F3020"/>
                </a:solidFill>
                <a:latin typeface="DM Sans"/>
                <a:ea typeface="DM Sans"/>
                <a:cs typeface="DM Sans"/>
                <a:sym typeface="DM Sans"/>
              </a:rPr>
              <a:t> Dr. D Bheekya Sir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descr="image.png"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1" name="Google Shape;101;p14"/>
          <p:cNvPicPr preferRelativeResize="0"/>
          <p:nvPr/>
        </p:nvPicPr>
        <p:blipFill rotWithShape="1">
          <a:blip r:embed="rId4">
            <a:alphaModFix/>
          </a:blip>
          <a:srcRect b="0" l="0" r="0" t="0"/>
          <a:stretch/>
        </p:blipFill>
        <p:spPr>
          <a:xfrm>
            <a:off x="6381750" y="1742033"/>
            <a:ext cx="5238750" cy="3810000"/>
          </a:xfrm>
          <a:prstGeom prst="rect">
            <a:avLst/>
          </a:prstGeom>
          <a:noFill/>
          <a:ln>
            <a:noFill/>
          </a:ln>
        </p:spPr>
      </p:pic>
      <p:sp>
        <p:nvSpPr>
          <p:cNvPr id="102" name="Google Shape;102;p14"/>
          <p:cNvSpPr txBox="1"/>
          <p:nvPr/>
        </p:nvSpPr>
        <p:spPr>
          <a:xfrm>
            <a:off x="571500" y="1742033"/>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GLYCOS AI is a high-fidelity, interactive clinical tool operating entirely in the user's browser to protect sensitive patient data.</a:t>
            </a:r>
            <a:endParaRPr/>
          </a:p>
        </p:txBody>
      </p:sp>
      <p:sp>
        <p:nvSpPr>
          <p:cNvPr id="103" name="Google Shape;103;p14"/>
          <p:cNvSpPr txBox="1"/>
          <p:nvPr/>
        </p:nvSpPr>
        <p:spPr>
          <a:xfrm>
            <a:off x="742950" y="2799308"/>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F3020"/>
                </a:solidFill>
                <a:latin typeface="DM Sans"/>
                <a:ea typeface="DM Sans"/>
                <a:cs typeface="DM Sans"/>
                <a:sym typeface="DM Sans"/>
              </a:rPr>
              <a:t>•</a:t>
            </a:r>
            <a:endParaRPr/>
          </a:p>
        </p:txBody>
      </p:sp>
      <p:sp>
        <p:nvSpPr>
          <p:cNvPr id="104" name="Google Shape;104;p14"/>
          <p:cNvSpPr txBox="1"/>
          <p:nvPr/>
        </p:nvSpPr>
        <p:spPr>
          <a:xfrm>
            <a:off x="809625" y="2799308"/>
            <a:ext cx="500062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88087"/>
                </a:solidFill>
                <a:latin typeface="DM Sans"/>
                <a:ea typeface="DM Sans"/>
                <a:cs typeface="DM Sans"/>
                <a:sym typeface="DM Sans"/>
              </a:rPr>
              <a:t>Privacy First:</a:t>
            </a:r>
            <a:r>
              <a:rPr b="0" i="0" lang="en-US" sz="1500" u="none" cap="none" strike="noStrike">
                <a:solidFill>
                  <a:srgbClr val="2F3020"/>
                </a:solidFill>
                <a:latin typeface="DM Sans"/>
                <a:ea typeface="DM Sans"/>
                <a:cs typeface="DM Sans"/>
                <a:sym typeface="DM Sans"/>
              </a:rPr>
              <a:t> No patient metrics are sent to external servers. Calculations happen client-side.</a:t>
            </a:r>
            <a:endParaRPr/>
          </a:p>
        </p:txBody>
      </p:sp>
      <p:sp>
        <p:nvSpPr>
          <p:cNvPr id="105" name="Google Shape;105;p14"/>
          <p:cNvSpPr txBox="1"/>
          <p:nvPr/>
        </p:nvSpPr>
        <p:spPr>
          <a:xfrm>
            <a:off x="742950" y="3599408"/>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F3020"/>
                </a:solidFill>
                <a:latin typeface="DM Sans"/>
                <a:ea typeface="DM Sans"/>
                <a:cs typeface="DM Sans"/>
                <a:sym typeface="DM Sans"/>
              </a:rPr>
              <a:t>•</a:t>
            </a:r>
            <a:endParaRPr/>
          </a:p>
        </p:txBody>
      </p:sp>
      <p:sp>
        <p:nvSpPr>
          <p:cNvPr id="106" name="Google Shape;106;p14"/>
          <p:cNvSpPr txBox="1"/>
          <p:nvPr/>
        </p:nvSpPr>
        <p:spPr>
          <a:xfrm>
            <a:off x="809625" y="3599408"/>
            <a:ext cx="500062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88087"/>
                </a:solidFill>
                <a:latin typeface="DM Sans"/>
                <a:ea typeface="DM Sans"/>
                <a:cs typeface="DM Sans"/>
                <a:sym typeface="DM Sans"/>
              </a:rPr>
              <a:t>Clinical Intelligence:</a:t>
            </a:r>
            <a:r>
              <a:rPr b="0" i="0" lang="en-US" sz="1500" u="none" cap="none" strike="noStrike">
                <a:solidFill>
                  <a:srgbClr val="2F3020"/>
                </a:solidFill>
                <a:latin typeface="DM Sans"/>
                <a:ea typeface="DM Sans"/>
                <a:cs typeface="DM Sans"/>
                <a:sym typeface="DM Sans"/>
              </a:rPr>
              <a:t> Computes Type 2 diabetes susceptibility risk percentages instantly.</a:t>
            </a:r>
            <a:endParaRPr/>
          </a:p>
        </p:txBody>
      </p:sp>
      <p:sp>
        <p:nvSpPr>
          <p:cNvPr id="107" name="Google Shape;107;p14"/>
          <p:cNvSpPr txBox="1"/>
          <p:nvPr/>
        </p:nvSpPr>
        <p:spPr>
          <a:xfrm>
            <a:off x="742950" y="4399508"/>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F3020"/>
                </a:solidFill>
                <a:latin typeface="DM Sans"/>
                <a:ea typeface="DM Sans"/>
                <a:cs typeface="DM Sans"/>
                <a:sym typeface="DM Sans"/>
              </a:rPr>
              <a:t>•</a:t>
            </a:r>
            <a:endParaRPr/>
          </a:p>
        </p:txBody>
      </p:sp>
      <p:sp>
        <p:nvSpPr>
          <p:cNvPr id="108" name="Google Shape;108;p14"/>
          <p:cNvSpPr txBox="1"/>
          <p:nvPr/>
        </p:nvSpPr>
        <p:spPr>
          <a:xfrm>
            <a:off x="809625" y="4399508"/>
            <a:ext cx="500062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88087"/>
                </a:solidFill>
                <a:latin typeface="DM Sans"/>
                <a:ea typeface="DM Sans"/>
                <a:cs typeface="DM Sans"/>
                <a:sym typeface="DM Sans"/>
              </a:rPr>
              <a:t>Immersive Experience:</a:t>
            </a:r>
            <a:r>
              <a:rPr b="0" i="0" lang="en-US" sz="1500" u="none" cap="none" strike="noStrike">
                <a:solidFill>
                  <a:srgbClr val="2F3020"/>
                </a:solidFill>
                <a:latin typeface="DM Sans"/>
                <a:ea typeface="DM Sans"/>
                <a:cs typeface="DM Sans"/>
                <a:sym typeface="DM Sans"/>
              </a:rPr>
              <a:t> Uses advanced WebGL and fluid UI transitions for a premium medical interface.</a:t>
            </a:r>
            <a:endParaRPr/>
          </a:p>
        </p:txBody>
      </p:sp>
      <p:sp>
        <p:nvSpPr>
          <p:cNvPr id="109" name="Google Shape;109;p14"/>
          <p:cNvSpPr txBox="1"/>
          <p:nvPr/>
        </p:nvSpPr>
        <p:spPr>
          <a:xfrm>
            <a:off x="742950" y="5199608"/>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2F3020"/>
                </a:solidFill>
                <a:latin typeface="DM Sans"/>
                <a:ea typeface="DM Sans"/>
                <a:cs typeface="DM Sans"/>
                <a:sym typeface="DM Sans"/>
              </a:rPr>
              <a:t>•</a:t>
            </a:r>
            <a:endParaRPr/>
          </a:p>
        </p:txBody>
      </p:sp>
      <p:sp>
        <p:nvSpPr>
          <p:cNvPr id="110" name="Google Shape;110;p14"/>
          <p:cNvSpPr txBox="1"/>
          <p:nvPr/>
        </p:nvSpPr>
        <p:spPr>
          <a:xfrm>
            <a:off x="809625" y="5199608"/>
            <a:ext cx="500062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88087"/>
                </a:solidFill>
                <a:latin typeface="DM Sans"/>
                <a:ea typeface="DM Sans"/>
                <a:cs typeface="DM Sans"/>
                <a:sym typeface="DM Sans"/>
              </a:rPr>
              <a:t>Dynamic Reporting:</a:t>
            </a:r>
            <a:r>
              <a:rPr b="0" i="0" lang="en-US" sz="1500" u="none" cap="none" strike="noStrike">
                <a:solidFill>
                  <a:srgbClr val="2F3020"/>
                </a:solidFill>
                <a:latin typeface="DM Sans"/>
                <a:ea typeface="DM Sans"/>
                <a:cs typeface="DM Sans"/>
                <a:sym typeface="DM Sans"/>
              </a:rPr>
              <a:t> Generates contextual, AI-driven explanations and automated PDF summaries.</a:t>
            </a:r>
            <a:endParaRPr/>
          </a:p>
        </p:txBody>
      </p:sp>
      <p:pic>
        <p:nvPicPr>
          <p:cNvPr descr="image.png" id="111" name="Google Shape;111;p14"/>
          <p:cNvPicPr preferRelativeResize="0"/>
          <p:nvPr/>
        </p:nvPicPr>
        <p:blipFill rotWithShape="1">
          <a:blip r:embed="rId5">
            <a:alphaModFix/>
          </a:blip>
          <a:srcRect b="0" l="0" r="0" t="0"/>
          <a:stretch/>
        </p:blipFill>
        <p:spPr>
          <a:xfrm>
            <a:off x="6381750" y="1742033"/>
            <a:ext cx="5238750" cy="3810000"/>
          </a:xfrm>
          <a:prstGeom prst="rect">
            <a:avLst/>
          </a:prstGeom>
          <a:noFill/>
          <a:ln>
            <a:noFill/>
          </a:ln>
        </p:spPr>
      </p:pic>
      <p:sp>
        <p:nvSpPr>
          <p:cNvPr id="112" name="Google Shape;112;p14"/>
          <p:cNvSpPr txBox="1"/>
          <p:nvPr/>
        </p:nvSpPr>
        <p:spPr>
          <a:xfrm>
            <a:off x="571500" y="571500"/>
            <a:ext cx="11601450" cy="50289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What is GLYCOS AI?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pic>
        <p:nvPicPr>
          <p:cNvPr descr="image.png" id="117" name="Google Shape;11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571500" y="1763026"/>
            <a:ext cx="3492550" cy="4664375"/>
          </a:xfrm>
          <a:prstGeom prst="rect">
            <a:avLst/>
          </a:prstGeom>
          <a:noFill/>
          <a:ln>
            <a:noFill/>
          </a:ln>
        </p:spPr>
      </p:pic>
      <p:pic>
        <p:nvPicPr>
          <p:cNvPr descr="image.png" id="119" name="Google Shape;119;p15"/>
          <p:cNvPicPr preferRelativeResize="0"/>
          <p:nvPr/>
        </p:nvPicPr>
        <p:blipFill rotWithShape="1">
          <a:blip r:embed="rId5">
            <a:alphaModFix/>
          </a:blip>
          <a:srcRect b="0" l="0" r="0" t="0"/>
          <a:stretch/>
        </p:blipFill>
        <p:spPr>
          <a:xfrm>
            <a:off x="4349800" y="1763026"/>
            <a:ext cx="3492550" cy="4664375"/>
          </a:xfrm>
          <a:prstGeom prst="rect">
            <a:avLst/>
          </a:prstGeom>
          <a:noFill/>
          <a:ln>
            <a:noFill/>
          </a:ln>
        </p:spPr>
      </p:pic>
      <p:pic>
        <p:nvPicPr>
          <p:cNvPr descr="image.png" id="120" name="Google Shape;120;p15"/>
          <p:cNvPicPr preferRelativeResize="0"/>
          <p:nvPr/>
        </p:nvPicPr>
        <p:blipFill rotWithShape="1">
          <a:blip r:embed="rId6">
            <a:alphaModFix/>
          </a:blip>
          <a:srcRect b="0" l="0" r="0" t="0"/>
          <a:stretch/>
        </p:blipFill>
        <p:spPr>
          <a:xfrm>
            <a:off x="8128100" y="1763026"/>
            <a:ext cx="3492550" cy="4603900"/>
          </a:xfrm>
          <a:prstGeom prst="rect">
            <a:avLst/>
          </a:prstGeom>
          <a:noFill/>
          <a:ln>
            <a:noFill/>
          </a:ln>
        </p:spPr>
      </p:pic>
      <p:sp>
        <p:nvSpPr>
          <p:cNvPr id="121" name="Google Shape;121;p15"/>
          <p:cNvSpPr/>
          <p:nvPr/>
        </p:nvSpPr>
        <p:spPr>
          <a:xfrm>
            <a:off x="581024" y="3851820"/>
            <a:ext cx="3473500" cy="38100"/>
          </a:xfrm>
          <a:prstGeom prst="rect">
            <a:avLst/>
          </a:prstGeom>
          <a:solidFill>
            <a:srgbClr val="D968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2" name="Google Shape;122;p15"/>
          <p:cNvPicPr preferRelativeResize="0"/>
          <p:nvPr/>
        </p:nvPicPr>
        <p:blipFill rotWithShape="1">
          <a:blip r:embed="rId7">
            <a:alphaModFix/>
          </a:blip>
          <a:srcRect b="0" l="0" r="0" t="0"/>
          <a:stretch/>
        </p:blipFill>
        <p:spPr>
          <a:xfrm>
            <a:off x="866775" y="2153542"/>
            <a:ext cx="762000" cy="762000"/>
          </a:xfrm>
          <a:prstGeom prst="rect">
            <a:avLst/>
          </a:prstGeom>
          <a:noFill/>
          <a:ln>
            <a:noFill/>
          </a:ln>
        </p:spPr>
      </p:pic>
      <p:sp>
        <p:nvSpPr>
          <p:cNvPr id="123" name="Google Shape;123;p15"/>
          <p:cNvSpPr txBox="1"/>
          <p:nvPr/>
        </p:nvSpPr>
        <p:spPr>
          <a:xfrm>
            <a:off x="866775" y="3153667"/>
            <a:ext cx="1940242"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Visual Engine</a:t>
            </a:r>
            <a:endParaRPr/>
          </a:p>
        </p:txBody>
      </p:sp>
      <p:sp>
        <p:nvSpPr>
          <p:cNvPr id="124" name="Google Shape;124;p15"/>
          <p:cNvSpPr txBox="1"/>
          <p:nvPr/>
        </p:nvSpPr>
        <p:spPr>
          <a:xfrm>
            <a:off x="818375" y="3994698"/>
            <a:ext cx="2901900" cy="2078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Powered by Vite &amp; React. Integrates Lenis kinetic scrolling with GSAP for high-end dynamics. Features a custom fluid cursor and Bloop Wipe/Pixel Reveal transitions.</a:t>
            </a:r>
            <a:endParaRPr/>
          </a:p>
        </p:txBody>
      </p:sp>
      <p:sp>
        <p:nvSpPr>
          <p:cNvPr id="125" name="Google Shape;125;p15"/>
          <p:cNvSpPr/>
          <p:nvPr/>
        </p:nvSpPr>
        <p:spPr>
          <a:xfrm>
            <a:off x="4359324" y="3851820"/>
            <a:ext cx="3473500" cy="38100"/>
          </a:xfrm>
          <a:prstGeom prst="rect">
            <a:avLst/>
          </a:prstGeom>
          <a:solidFill>
            <a:srgbClr val="D968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6" name="Google Shape;126;p15"/>
          <p:cNvPicPr preferRelativeResize="0"/>
          <p:nvPr/>
        </p:nvPicPr>
        <p:blipFill rotWithShape="1">
          <a:blip r:embed="rId8">
            <a:alphaModFix/>
          </a:blip>
          <a:srcRect b="0" l="0" r="0" t="0"/>
          <a:stretch/>
        </p:blipFill>
        <p:spPr>
          <a:xfrm>
            <a:off x="4645074" y="2153542"/>
            <a:ext cx="762000" cy="762000"/>
          </a:xfrm>
          <a:prstGeom prst="rect">
            <a:avLst/>
          </a:prstGeom>
          <a:noFill/>
          <a:ln>
            <a:noFill/>
          </a:ln>
        </p:spPr>
      </p:pic>
      <p:sp>
        <p:nvSpPr>
          <p:cNvPr id="127" name="Google Shape;127;p15"/>
          <p:cNvSpPr txBox="1"/>
          <p:nvPr/>
        </p:nvSpPr>
        <p:spPr>
          <a:xfrm>
            <a:off x="4645074" y="3153667"/>
            <a:ext cx="2030253"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In-Browser ML</a:t>
            </a:r>
            <a:endParaRPr/>
          </a:p>
        </p:txBody>
      </p:sp>
      <p:sp>
        <p:nvSpPr>
          <p:cNvPr id="128" name="Google Shape;128;p15"/>
          <p:cNvSpPr txBox="1"/>
          <p:nvPr/>
        </p:nvSpPr>
        <p:spPr>
          <a:xfrm>
            <a:off x="4620874" y="3994698"/>
            <a:ext cx="2901900" cy="2078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Features a local Logistic Regression classifier via Batch Gradient Descent in JS. Supports local model training on standard cohorts or custom patient CSVs.</a:t>
            </a:r>
            <a:endParaRPr/>
          </a:p>
        </p:txBody>
      </p:sp>
      <p:sp>
        <p:nvSpPr>
          <p:cNvPr id="129" name="Google Shape;129;p15"/>
          <p:cNvSpPr/>
          <p:nvPr/>
        </p:nvSpPr>
        <p:spPr>
          <a:xfrm>
            <a:off x="8137623" y="3851820"/>
            <a:ext cx="3473500" cy="38100"/>
          </a:xfrm>
          <a:prstGeom prst="rect">
            <a:avLst/>
          </a:prstGeom>
          <a:solidFill>
            <a:srgbClr val="D968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0" name="Google Shape;130;p15"/>
          <p:cNvPicPr preferRelativeResize="0"/>
          <p:nvPr/>
        </p:nvPicPr>
        <p:blipFill rotWithShape="1">
          <a:blip r:embed="rId9">
            <a:alphaModFix/>
          </a:blip>
          <a:srcRect b="0" l="0" r="0" t="0"/>
          <a:stretch/>
        </p:blipFill>
        <p:spPr>
          <a:xfrm>
            <a:off x="8423374" y="2153542"/>
            <a:ext cx="762000" cy="762000"/>
          </a:xfrm>
          <a:prstGeom prst="rect">
            <a:avLst/>
          </a:prstGeom>
          <a:noFill/>
          <a:ln>
            <a:noFill/>
          </a:ln>
        </p:spPr>
      </p:pic>
      <p:sp>
        <p:nvSpPr>
          <p:cNvPr id="131" name="Google Shape;131;p15"/>
          <p:cNvSpPr txBox="1"/>
          <p:nvPr/>
        </p:nvSpPr>
        <p:spPr>
          <a:xfrm>
            <a:off x="8423374" y="3153667"/>
            <a:ext cx="220027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WebGL &amp; Audio</a:t>
            </a:r>
            <a:endParaRPr/>
          </a:p>
        </p:txBody>
      </p:sp>
      <p:sp>
        <p:nvSpPr>
          <p:cNvPr id="132" name="Google Shape;132;p15"/>
          <p:cNvSpPr txBox="1"/>
          <p:nvPr/>
        </p:nvSpPr>
        <p:spPr>
          <a:xfrm>
            <a:off x="8423374" y="3994698"/>
            <a:ext cx="2901900" cy="2078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Procedural 3D node lattice using Three.js that visually connects clinical factors. Accompanied by a Web Audio HTML5 engine providing a deep atmospheric 45Hz hum.</a:t>
            </a:r>
            <a:endParaRPr/>
          </a:p>
        </p:txBody>
      </p:sp>
      <p:pic>
        <p:nvPicPr>
          <p:cNvPr descr="image.png" id="133" name="Google Shape;133;p15"/>
          <p:cNvPicPr preferRelativeResize="0"/>
          <p:nvPr/>
        </p:nvPicPr>
        <p:blipFill rotWithShape="1">
          <a:blip r:embed="rId10">
            <a:alphaModFix/>
          </a:blip>
          <a:srcRect b="0" l="0" r="0" t="0"/>
          <a:stretch/>
        </p:blipFill>
        <p:spPr>
          <a:xfrm>
            <a:off x="1033462" y="2344042"/>
            <a:ext cx="428625" cy="381000"/>
          </a:xfrm>
          <a:prstGeom prst="rect">
            <a:avLst/>
          </a:prstGeom>
          <a:noFill/>
          <a:ln>
            <a:noFill/>
          </a:ln>
        </p:spPr>
      </p:pic>
      <p:pic>
        <p:nvPicPr>
          <p:cNvPr descr="image.png" id="134" name="Google Shape;134;p15"/>
          <p:cNvPicPr preferRelativeResize="0"/>
          <p:nvPr/>
        </p:nvPicPr>
        <p:blipFill rotWithShape="1">
          <a:blip r:embed="rId11">
            <a:alphaModFix/>
          </a:blip>
          <a:srcRect b="0" l="0" r="0" t="0"/>
          <a:stretch/>
        </p:blipFill>
        <p:spPr>
          <a:xfrm>
            <a:off x="4835574" y="2344042"/>
            <a:ext cx="381000" cy="381000"/>
          </a:xfrm>
          <a:prstGeom prst="rect">
            <a:avLst/>
          </a:prstGeom>
          <a:noFill/>
          <a:ln>
            <a:noFill/>
          </a:ln>
        </p:spPr>
      </p:pic>
      <p:pic>
        <p:nvPicPr>
          <p:cNvPr descr="image.png" id="135" name="Google Shape;135;p15"/>
          <p:cNvPicPr preferRelativeResize="0"/>
          <p:nvPr/>
        </p:nvPicPr>
        <p:blipFill rotWithShape="1">
          <a:blip r:embed="rId12">
            <a:alphaModFix/>
          </a:blip>
          <a:srcRect b="0" l="0" r="0" t="0"/>
          <a:stretch/>
        </p:blipFill>
        <p:spPr>
          <a:xfrm>
            <a:off x="8590061" y="2344042"/>
            <a:ext cx="428625" cy="381000"/>
          </a:xfrm>
          <a:prstGeom prst="rect">
            <a:avLst/>
          </a:prstGeom>
          <a:noFill/>
          <a:ln>
            <a:noFill/>
          </a:ln>
        </p:spPr>
      </p:pic>
      <p:sp>
        <p:nvSpPr>
          <p:cNvPr id="136" name="Google Shape;136;p15"/>
          <p:cNvSpPr txBox="1"/>
          <p:nvPr/>
        </p:nvSpPr>
        <p:spPr>
          <a:xfrm>
            <a:off x="571500" y="571500"/>
            <a:ext cx="11601450" cy="50289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Core System Architecture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pic>
        <p:nvPicPr>
          <p:cNvPr descr="image.png" id="141" name="Google Shape;14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2" name="Google Shape;142;p16"/>
          <p:cNvPicPr preferRelativeResize="0"/>
          <p:nvPr/>
        </p:nvPicPr>
        <p:blipFill rotWithShape="1">
          <a:blip r:embed="rId4">
            <a:alphaModFix/>
          </a:blip>
          <a:srcRect b="0" l="0" r="0" t="0"/>
          <a:stretch/>
        </p:blipFill>
        <p:spPr>
          <a:xfrm>
            <a:off x="571500" y="1886842"/>
            <a:ext cx="5238750" cy="3968055"/>
          </a:xfrm>
          <a:prstGeom prst="rect">
            <a:avLst/>
          </a:prstGeom>
          <a:noFill/>
          <a:ln>
            <a:noFill/>
          </a:ln>
        </p:spPr>
      </p:pic>
      <p:pic>
        <p:nvPicPr>
          <p:cNvPr descr="image.png" id="143" name="Google Shape;143;p16"/>
          <p:cNvPicPr preferRelativeResize="0"/>
          <p:nvPr/>
        </p:nvPicPr>
        <p:blipFill rotWithShape="1">
          <a:blip r:embed="rId5">
            <a:alphaModFix/>
          </a:blip>
          <a:srcRect b="0" l="0" r="0" t="0"/>
          <a:stretch/>
        </p:blipFill>
        <p:spPr>
          <a:xfrm>
            <a:off x="6381750" y="1886842"/>
            <a:ext cx="5238750" cy="3968055"/>
          </a:xfrm>
          <a:prstGeom prst="rect">
            <a:avLst/>
          </a:prstGeom>
          <a:noFill/>
          <a:ln>
            <a:noFill/>
          </a:ln>
        </p:spPr>
      </p:pic>
      <p:sp>
        <p:nvSpPr>
          <p:cNvPr id="144" name="Google Shape;144;p16"/>
          <p:cNvSpPr txBox="1"/>
          <p:nvPr/>
        </p:nvSpPr>
        <p:spPr>
          <a:xfrm>
            <a:off x="962025" y="2277367"/>
            <a:ext cx="468058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Metabolic Data Parser</a:t>
            </a:r>
            <a:endParaRPr/>
          </a:p>
        </p:txBody>
      </p:sp>
      <p:sp>
        <p:nvSpPr>
          <p:cNvPr id="145" name="Google Shape;145;p16"/>
          <p:cNvSpPr txBox="1"/>
          <p:nvPr/>
        </p:nvSpPr>
        <p:spPr>
          <a:xfrm>
            <a:off x="962025" y="2740223"/>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Users can drag &amp; drop clinical files (.pdf, .xlsx, .csv) or paste plain text. The suite dynamically imports pdf.js and standard xlsx libraries directly in the browser.</a:t>
            </a:r>
            <a:endParaRPr/>
          </a:p>
        </p:txBody>
      </p:sp>
      <p:sp>
        <p:nvSpPr>
          <p:cNvPr id="146" name="Google Shape;146;p16"/>
          <p:cNvSpPr txBox="1"/>
          <p:nvPr/>
        </p:nvSpPr>
        <p:spPr>
          <a:xfrm>
            <a:off x="962025" y="4102298"/>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Performs automated text parsing via Azure OpenAI (gpt-4o-mini). If offline, it seamlessly falls back to custom local regular expressions to extract metabolic terms.</a:t>
            </a:r>
            <a:endParaRPr/>
          </a:p>
        </p:txBody>
      </p:sp>
      <p:sp>
        <p:nvSpPr>
          <p:cNvPr id="147" name="Google Shape;147;p16"/>
          <p:cNvSpPr txBox="1"/>
          <p:nvPr/>
        </p:nvSpPr>
        <p:spPr>
          <a:xfrm>
            <a:off x="6772275" y="2277367"/>
            <a:ext cx="468058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Context-Aware Consultation</a:t>
            </a:r>
            <a:endParaRPr/>
          </a:p>
        </p:txBody>
      </p:sp>
      <p:sp>
        <p:nvSpPr>
          <p:cNvPr id="148" name="Google Shape;148;p16"/>
          <p:cNvSpPr txBox="1"/>
          <p:nvPr/>
        </p:nvSpPr>
        <p:spPr>
          <a:xfrm>
            <a:off x="6772275" y="2740223"/>
            <a:ext cx="44577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Includes an AI chat terminal that allows clinicians or patients to ask follow-up questions. The system auto-injects all computed metrics.</a:t>
            </a:r>
            <a:endParaRPr/>
          </a:p>
        </p:txBody>
      </p:sp>
      <p:sp>
        <p:nvSpPr>
          <p:cNvPr id="149" name="Google Shape;149;p16"/>
          <p:cNvSpPr txBox="1"/>
          <p:nvPr/>
        </p:nvSpPr>
        <p:spPr>
          <a:xfrm>
            <a:off x="6772275" y="3797498"/>
            <a:ext cx="44577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When completed, it assembles a high-contrast clinical record layout and compiles it into a downloadable PDF using the html2pdf.js library.</a:t>
            </a:r>
            <a:endParaRPr/>
          </a:p>
        </p:txBody>
      </p:sp>
      <p:sp>
        <p:nvSpPr>
          <p:cNvPr id="150" name="Google Shape;150;p16"/>
          <p:cNvSpPr txBox="1"/>
          <p:nvPr/>
        </p:nvSpPr>
        <p:spPr>
          <a:xfrm>
            <a:off x="571500" y="571500"/>
            <a:ext cx="11601450" cy="50289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UX &amp; Visual Integration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pic>
        <p:nvPicPr>
          <p:cNvPr descr="image.png" id="155" name="Google Shape;155;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6" name="Google Shape;156;p17"/>
          <p:cNvSpPr txBox="1"/>
          <p:nvPr/>
        </p:nvSpPr>
        <p:spPr>
          <a:xfrm>
            <a:off x="571500" y="571500"/>
            <a:ext cx="5150643" cy="100578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In-Browser ML Calibrator</a:t>
            </a:r>
            <a:endParaRPr/>
          </a:p>
        </p:txBody>
      </p:sp>
      <p:pic>
        <p:nvPicPr>
          <p:cNvPr descr="image.png" id="157" name="Google Shape;157;p17"/>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58" name="Google Shape;158;p17"/>
          <p:cNvSpPr txBox="1"/>
          <p:nvPr/>
        </p:nvSpPr>
        <p:spPr>
          <a:xfrm>
            <a:off x="571500" y="2384077"/>
            <a:ext cx="4905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The platform isn't just a static predictor; it allows users to locally train the prediction coefficients.</a:t>
            </a:r>
            <a:endParaRPr/>
          </a:p>
        </p:txBody>
      </p:sp>
      <p:sp>
        <p:nvSpPr>
          <p:cNvPr id="159" name="Google Shape;159;p17"/>
          <p:cNvSpPr txBox="1"/>
          <p:nvPr/>
        </p:nvSpPr>
        <p:spPr>
          <a:xfrm>
            <a:off x="571500" y="3136552"/>
            <a:ext cx="490537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It fits a Logistic Regression classifier on either the standard PIMA Indians Cohort or a custom dataset. By executing Batch Gradient Descent entirely in JavaScript (120 epochs, learning rate = 0.25), it updates custom weights in real-time.</a:t>
            </a:r>
            <a:endParaRPr/>
          </a:p>
        </p:txBody>
      </p:sp>
      <p:sp>
        <p:nvSpPr>
          <p:cNvPr id="160" name="Google Shape;160;p17"/>
          <p:cNvSpPr txBox="1"/>
          <p:nvPr/>
        </p:nvSpPr>
        <p:spPr>
          <a:xfrm>
            <a:off x="571500" y="4803427"/>
            <a:ext cx="4905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The interface dynamically displays binary cross-entropy loss and accuracy in a retro command line console.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pic>
        <p:nvPicPr>
          <p:cNvPr descr="image.png" id="165" name="Google Shape;16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6" name="Google Shape;166;p18"/>
          <p:cNvPicPr preferRelativeResize="0"/>
          <p:nvPr/>
        </p:nvPicPr>
        <p:blipFill rotWithShape="1">
          <a:blip r:embed="rId4">
            <a:alphaModFix/>
          </a:blip>
          <a:srcRect b="0" l="0" r="0" t="0"/>
          <a:stretch/>
        </p:blipFill>
        <p:spPr>
          <a:xfrm>
            <a:off x="2286000" y="1390054"/>
            <a:ext cx="7620000" cy="4077890"/>
          </a:xfrm>
          <a:prstGeom prst="rect">
            <a:avLst/>
          </a:prstGeom>
          <a:noFill/>
          <a:ln>
            <a:noFill/>
          </a:ln>
        </p:spPr>
      </p:pic>
      <p:sp>
        <p:nvSpPr>
          <p:cNvPr id="167" name="Google Shape;167;p18"/>
          <p:cNvSpPr txBox="1"/>
          <p:nvPr/>
        </p:nvSpPr>
        <p:spPr>
          <a:xfrm>
            <a:off x="2605563" y="1875829"/>
            <a:ext cx="6980872" cy="109716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600" u="none" cap="none" strike="noStrike">
                <a:solidFill>
                  <a:srgbClr val="12130D"/>
                </a:solidFill>
                <a:latin typeface="Poppins"/>
                <a:ea typeface="Poppins"/>
                <a:cs typeface="Poppins"/>
                <a:sym typeface="Poppins"/>
              </a:rPr>
              <a:t>Interactive 3D WebGL Graphics</a:t>
            </a:r>
            <a:endParaRPr/>
          </a:p>
        </p:txBody>
      </p:sp>
      <p:sp>
        <p:nvSpPr>
          <p:cNvPr id="168" name="Google Shape;168;p18"/>
          <p:cNvSpPr txBox="1"/>
          <p:nvPr/>
        </p:nvSpPr>
        <p:spPr>
          <a:xfrm>
            <a:off x="2771775" y="3163490"/>
            <a:ext cx="6648450" cy="1675804"/>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2F3020"/>
                </a:solidFill>
                <a:latin typeface="DM Sans"/>
                <a:ea typeface="DM Sans"/>
                <a:cs typeface="DM Sans"/>
                <a:sym typeface="DM Sans"/>
              </a:rPr>
              <a:t>As the user slides through manual questionnaire metrics, the Three.js WebGL camera automatically pans to focus on the active node in the metabolic lattice. The active node scales up, glows, and reflects user cursor interactions against a swarm of dynamic dust particles.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pic>
        <p:nvPicPr>
          <p:cNvPr descr="image.png" id="173" name="Google Shape;17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19"/>
          <p:cNvPicPr preferRelativeResize="0"/>
          <p:nvPr/>
        </p:nvPicPr>
        <p:blipFill rotWithShape="1">
          <a:blip r:embed="rId4">
            <a:alphaModFix/>
          </a:blip>
          <a:srcRect b="0" l="0" r="0" t="0"/>
          <a:stretch/>
        </p:blipFill>
        <p:spPr>
          <a:xfrm>
            <a:off x="571500" y="1745009"/>
            <a:ext cx="3492549" cy="4251870"/>
          </a:xfrm>
          <a:prstGeom prst="rect">
            <a:avLst/>
          </a:prstGeom>
          <a:noFill/>
          <a:ln>
            <a:noFill/>
          </a:ln>
        </p:spPr>
      </p:pic>
      <p:pic>
        <p:nvPicPr>
          <p:cNvPr descr="image.png" id="175" name="Google Shape;175;p19"/>
          <p:cNvPicPr preferRelativeResize="0"/>
          <p:nvPr/>
        </p:nvPicPr>
        <p:blipFill rotWithShape="1">
          <a:blip r:embed="rId5">
            <a:alphaModFix/>
          </a:blip>
          <a:srcRect b="0" l="0" r="0" t="0"/>
          <a:stretch/>
        </p:blipFill>
        <p:spPr>
          <a:xfrm>
            <a:off x="4349799" y="1745009"/>
            <a:ext cx="3492549" cy="4251870"/>
          </a:xfrm>
          <a:prstGeom prst="rect">
            <a:avLst/>
          </a:prstGeom>
          <a:noFill/>
          <a:ln>
            <a:noFill/>
          </a:ln>
        </p:spPr>
      </p:pic>
      <p:pic>
        <p:nvPicPr>
          <p:cNvPr descr="image.png" id="176" name="Google Shape;176;p19"/>
          <p:cNvPicPr preferRelativeResize="0"/>
          <p:nvPr/>
        </p:nvPicPr>
        <p:blipFill rotWithShape="1">
          <a:blip r:embed="rId6">
            <a:alphaModFix/>
          </a:blip>
          <a:srcRect b="0" l="0" r="0" t="0"/>
          <a:stretch/>
        </p:blipFill>
        <p:spPr>
          <a:xfrm>
            <a:off x="8128099" y="1745009"/>
            <a:ext cx="3492549" cy="4251870"/>
          </a:xfrm>
          <a:prstGeom prst="rect">
            <a:avLst/>
          </a:prstGeom>
          <a:noFill/>
          <a:ln>
            <a:noFill/>
          </a:ln>
        </p:spPr>
      </p:pic>
      <p:sp>
        <p:nvSpPr>
          <p:cNvPr id="177" name="Google Shape;177;p19"/>
          <p:cNvSpPr txBox="1"/>
          <p:nvPr/>
        </p:nvSpPr>
        <p:spPr>
          <a:xfrm>
            <a:off x="771525" y="4040534"/>
            <a:ext cx="3247124"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12130D"/>
                </a:solidFill>
                <a:latin typeface="Poppins SemiBold"/>
                <a:ea typeface="Poppins SemiBold"/>
                <a:cs typeface="Poppins SemiBold"/>
                <a:sym typeface="Poppins SemiBold"/>
              </a:rPr>
              <a:t>Odometer Risk Gauge</a:t>
            </a:r>
            <a:endParaRPr/>
          </a:p>
        </p:txBody>
      </p:sp>
      <p:sp>
        <p:nvSpPr>
          <p:cNvPr id="178" name="Google Shape;178;p19"/>
          <p:cNvSpPr txBox="1"/>
          <p:nvPr/>
        </p:nvSpPr>
        <p:spPr>
          <a:xfrm>
            <a:off x="771525" y="4434780"/>
            <a:ext cx="309249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Instantly displays the patient's calculated susceptibility percentage using an interactive, animated odometer interface.</a:t>
            </a:r>
            <a:endParaRPr/>
          </a:p>
        </p:txBody>
      </p:sp>
      <p:sp>
        <p:nvSpPr>
          <p:cNvPr id="179" name="Google Shape;179;p19"/>
          <p:cNvSpPr txBox="1"/>
          <p:nvPr/>
        </p:nvSpPr>
        <p:spPr>
          <a:xfrm>
            <a:off x="4549824" y="4040534"/>
            <a:ext cx="3247124"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12130D"/>
                </a:solidFill>
                <a:latin typeface="Poppins SemiBold"/>
                <a:ea typeface="Poppins SemiBold"/>
                <a:cs typeface="Poppins SemiBold"/>
                <a:sym typeface="Poppins SemiBold"/>
              </a:rPr>
              <a:t>Probability Bell Curve</a:t>
            </a:r>
            <a:endParaRPr/>
          </a:p>
        </p:txBody>
      </p:sp>
      <p:sp>
        <p:nvSpPr>
          <p:cNvPr id="180" name="Google Shape;180;p19"/>
          <p:cNvSpPr txBox="1"/>
          <p:nvPr/>
        </p:nvSpPr>
        <p:spPr>
          <a:xfrm>
            <a:off x="4549824" y="4434780"/>
            <a:ext cx="309249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An interactive SVG normal distribution showing the patient's relative standing compared to a standard population distribution.</a:t>
            </a:r>
            <a:endParaRPr/>
          </a:p>
        </p:txBody>
      </p:sp>
      <p:sp>
        <p:nvSpPr>
          <p:cNvPr id="181" name="Google Shape;181;p19"/>
          <p:cNvSpPr txBox="1"/>
          <p:nvPr/>
        </p:nvSpPr>
        <p:spPr>
          <a:xfrm>
            <a:off x="8328124" y="4040534"/>
            <a:ext cx="3247124"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12130D"/>
                </a:solidFill>
                <a:latin typeface="Poppins SemiBold"/>
                <a:ea typeface="Poppins SemiBold"/>
                <a:cs typeface="Poppins SemiBold"/>
                <a:sym typeface="Poppins SemiBold"/>
              </a:rPr>
              <a:t>PDF Report Generator</a:t>
            </a:r>
            <a:endParaRPr/>
          </a:p>
        </p:txBody>
      </p:sp>
      <p:sp>
        <p:nvSpPr>
          <p:cNvPr id="182" name="Google Shape;182;p19"/>
          <p:cNvSpPr txBox="1"/>
          <p:nvPr/>
        </p:nvSpPr>
        <p:spPr>
          <a:xfrm>
            <a:off x="8328124" y="4434780"/>
            <a:ext cx="309249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Compiles biomarker contributions, AI chat context, and metrics into a downloadable PDF report for immediate clinical review.</a:t>
            </a:r>
            <a:endParaRPr/>
          </a:p>
        </p:txBody>
      </p:sp>
      <p:pic>
        <p:nvPicPr>
          <p:cNvPr descr="image.png" id="183" name="Google Shape;183;p19"/>
          <p:cNvPicPr preferRelativeResize="0"/>
          <p:nvPr/>
        </p:nvPicPr>
        <p:blipFill rotWithShape="1">
          <a:blip r:embed="rId7">
            <a:alphaModFix/>
          </a:blip>
          <a:srcRect b="0" l="0" r="0" t="0"/>
          <a:stretch/>
        </p:blipFill>
        <p:spPr>
          <a:xfrm>
            <a:off x="771525" y="1945034"/>
            <a:ext cx="3092499" cy="1905000"/>
          </a:xfrm>
          <a:prstGeom prst="rect">
            <a:avLst/>
          </a:prstGeom>
          <a:noFill/>
          <a:ln>
            <a:noFill/>
          </a:ln>
        </p:spPr>
      </p:pic>
      <p:pic>
        <p:nvPicPr>
          <p:cNvPr descr="image.png" id="184" name="Google Shape;184;p19"/>
          <p:cNvPicPr preferRelativeResize="0"/>
          <p:nvPr/>
        </p:nvPicPr>
        <p:blipFill rotWithShape="1">
          <a:blip r:embed="rId8">
            <a:alphaModFix/>
          </a:blip>
          <a:srcRect b="0" l="0" r="0" t="0"/>
          <a:stretch/>
        </p:blipFill>
        <p:spPr>
          <a:xfrm>
            <a:off x="4549824" y="1945034"/>
            <a:ext cx="3092499" cy="1905000"/>
          </a:xfrm>
          <a:prstGeom prst="rect">
            <a:avLst/>
          </a:prstGeom>
          <a:noFill/>
          <a:ln>
            <a:noFill/>
          </a:ln>
        </p:spPr>
      </p:pic>
      <p:pic>
        <p:nvPicPr>
          <p:cNvPr descr="image.png" id="185" name="Google Shape;185;p19"/>
          <p:cNvPicPr preferRelativeResize="0"/>
          <p:nvPr/>
        </p:nvPicPr>
        <p:blipFill rotWithShape="1">
          <a:blip r:embed="rId9">
            <a:alphaModFix/>
          </a:blip>
          <a:srcRect b="0" l="0" r="0" t="0"/>
          <a:stretch/>
        </p:blipFill>
        <p:spPr>
          <a:xfrm>
            <a:off x="8328124" y="1945034"/>
            <a:ext cx="3092499" cy="1905000"/>
          </a:xfrm>
          <a:prstGeom prst="rect">
            <a:avLst/>
          </a:prstGeom>
          <a:noFill/>
          <a:ln>
            <a:noFill/>
          </a:ln>
        </p:spPr>
      </p:pic>
      <p:sp>
        <p:nvSpPr>
          <p:cNvPr id="186" name="Google Shape;186;p19"/>
          <p:cNvSpPr txBox="1"/>
          <p:nvPr/>
        </p:nvSpPr>
        <p:spPr>
          <a:xfrm>
            <a:off x="571500" y="571500"/>
            <a:ext cx="11601450" cy="50289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Clinical Reporting Dashboard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pic>
        <p:nvPicPr>
          <p:cNvPr descr="image.png" id="191" name="Google Shape;19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2" name="Google Shape;192;p20"/>
          <p:cNvPicPr preferRelativeResize="0"/>
          <p:nvPr/>
        </p:nvPicPr>
        <p:blipFill rotWithShape="1">
          <a:blip r:embed="rId4">
            <a:alphaModFix/>
          </a:blip>
          <a:srcRect b="0" l="0" r="0" t="0"/>
          <a:stretch/>
        </p:blipFill>
        <p:spPr>
          <a:xfrm>
            <a:off x="571500" y="2696765"/>
            <a:ext cx="5238750" cy="2348358"/>
          </a:xfrm>
          <a:prstGeom prst="rect">
            <a:avLst/>
          </a:prstGeom>
          <a:noFill/>
          <a:ln>
            <a:noFill/>
          </a:ln>
        </p:spPr>
      </p:pic>
      <p:pic>
        <p:nvPicPr>
          <p:cNvPr descr="image.png" id="193" name="Google Shape;193;p20"/>
          <p:cNvPicPr preferRelativeResize="0"/>
          <p:nvPr/>
        </p:nvPicPr>
        <p:blipFill rotWithShape="1">
          <a:blip r:embed="rId5">
            <a:alphaModFix/>
          </a:blip>
          <a:srcRect b="0" l="0" r="0" t="0"/>
          <a:stretch/>
        </p:blipFill>
        <p:spPr>
          <a:xfrm>
            <a:off x="6381750" y="2696765"/>
            <a:ext cx="5238750" cy="2348358"/>
          </a:xfrm>
          <a:prstGeom prst="rect">
            <a:avLst/>
          </a:prstGeom>
          <a:noFill/>
          <a:ln>
            <a:noFill/>
          </a:ln>
        </p:spPr>
      </p:pic>
      <p:pic>
        <p:nvPicPr>
          <p:cNvPr descr="image.png" id="194" name="Google Shape;194;p20"/>
          <p:cNvPicPr preferRelativeResize="0"/>
          <p:nvPr/>
        </p:nvPicPr>
        <p:blipFill rotWithShape="1">
          <a:blip r:embed="rId6">
            <a:alphaModFix/>
          </a:blip>
          <a:srcRect b="0" l="0" r="0" t="0"/>
          <a:stretch/>
        </p:blipFill>
        <p:spPr>
          <a:xfrm>
            <a:off x="962025" y="3997821"/>
            <a:ext cx="1783853" cy="933450"/>
          </a:xfrm>
          <a:prstGeom prst="rect">
            <a:avLst/>
          </a:prstGeom>
          <a:noFill/>
          <a:ln>
            <a:noFill/>
          </a:ln>
        </p:spPr>
      </p:pic>
      <p:pic>
        <p:nvPicPr>
          <p:cNvPr descr="image.png" id="195" name="Google Shape;195;p20"/>
          <p:cNvPicPr preferRelativeResize="0"/>
          <p:nvPr/>
        </p:nvPicPr>
        <p:blipFill rotWithShape="1">
          <a:blip r:embed="rId7">
            <a:alphaModFix/>
          </a:blip>
          <a:srcRect b="0" l="0" r="0" t="0"/>
          <a:stretch/>
        </p:blipFill>
        <p:spPr>
          <a:xfrm>
            <a:off x="6772275" y="3997821"/>
            <a:ext cx="4065389" cy="933450"/>
          </a:xfrm>
          <a:prstGeom prst="rect">
            <a:avLst/>
          </a:prstGeom>
          <a:noFill/>
          <a:ln>
            <a:noFill/>
          </a:ln>
        </p:spPr>
      </p:pic>
      <p:sp>
        <p:nvSpPr>
          <p:cNvPr id="196" name="Google Shape;196;p20"/>
          <p:cNvSpPr txBox="1"/>
          <p:nvPr/>
        </p:nvSpPr>
        <p:spPr>
          <a:xfrm>
            <a:off x="962025" y="3087290"/>
            <a:ext cx="468058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1. Feature Standardization</a:t>
            </a:r>
            <a:endParaRPr/>
          </a:p>
        </p:txBody>
      </p:sp>
      <p:sp>
        <p:nvSpPr>
          <p:cNvPr id="197" name="Google Shape;197;p20"/>
          <p:cNvSpPr txBox="1"/>
          <p:nvPr/>
        </p:nvSpPr>
        <p:spPr>
          <a:xfrm>
            <a:off x="962025" y="3550146"/>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Input variables are scaled into standard scores (Z-scores) before processing:</a:t>
            </a:r>
            <a:endParaRPr/>
          </a:p>
        </p:txBody>
      </p:sp>
      <p:sp>
        <p:nvSpPr>
          <p:cNvPr id="198" name="Google Shape;198;p20"/>
          <p:cNvSpPr txBox="1"/>
          <p:nvPr/>
        </p:nvSpPr>
        <p:spPr>
          <a:xfrm>
            <a:off x="6772275" y="3087290"/>
            <a:ext cx="468058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8087"/>
                </a:solidFill>
                <a:latin typeface="Poppins SemiBold"/>
                <a:ea typeface="Poppins SemiBold"/>
                <a:cs typeface="Poppins SemiBold"/>
                <a:sym typeface="Poppins SemiBold"/>
              </a:rPr>
              <a:t>2. Logistic Regression</a:t>
            </a:r>
            <a:endParaRPr/>
          </a:p>
        </p:txBody>
      </p:sp>
      <p:sp>
        <p:nvSpPr>
          <p:cNvPr id="199" name="Google Shape;199;p20"/>
          <p:cNvSpPr txBox="1"/>
          <p:nvPr/>
        </p:nvSpPr>
        <p:spPr>
          <a:xfrm>
            <a:off x="6772275" y="3550146"/>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The probability of susceptibility is computed via log-odds mapping:</a:t>
            </a:r>
            <a:endParaRPr/>
          </a:p>
        </p:txBody>
      </p:sp>
      <p:pic>
        <p:nvPicPr>
          <p:cNvPr descr="image.png" id="200" name="Google Shape;200;p20"/>
          <p:cNvPicPr preferRelativeResize="0"/>
          <p:nvPr/>
        </p:nvPicPr>
        <p:blipFill rotWithShape="1">
          <a:blip r:embed="rId8">
            <a:alphaModFix/>
          </a:blip>
          <a:srcRect b="0" l="0" r="0" t="0"/>
          <a:stretch/>
        </p:blipFill>
        <p:spPr>
          <a:xfrm>
            <a:off x="1266825" y="4351734"/>
            <a:ext cx="1174253" cy="264616"/>
          </a:xfrm>
          <a:prstGeom prst="rect">
            <a:avLst/>
          </a:prstGeom>
          <a:noFill/>
          <a:ln>
            <a:noFill/>
          </a:ln>
        </p:spPr>
      </p:pic>
      <p:pic>
        <p:nvPicPr>
          <p:cNvPr descr="image.png" id="201" name="Google Shape;201;p20"/>
          <p:cNvPicPr preferRelativeResize="0"/>
          <p:nvPr/>
        </p:nvPicPr>
        <p:blipFill rotWithShape="1">
          <a:blip r:embed="rId9">
            <a:alphaModFix/>
          </a:blip>
          <a:srcRect b="0" l="0" r="0" t="0"/>
          <a:stretch/>
        </p:blipFill>
        <p:spPr>
          <a:xfrm>
            <a:off x="7077075" y="4378821"/>
            <a:ext cx="2400448" cy="275778"/>
          </a:xfrm>
          <a:prstGeom prst="rect">
            <a:avLst/>
          </a:prstGeom>
          <a:noFill/>
          <a:ln>
            <a:noFill/>
          </a:ln>
        </p:spPr>
      </p:pic>
      <p:pic>
        <p:nvPicPr>
          <p:cNvPr descr="image.png" id="202" name="Google Shape;202;p20"/>
          <p:cNvPicPr preferRelativeResize="0"/>
          <p:nvPr/>
        </p:nvPicPr>
        <p:blipFill rotWithShape="1">
          <a:blip r:embed="rId10">
            <a:alphaModFix/>
          </a:blip>
          <a:srcRect b="0" l="0" r="0" t="0"/>
          <a:stretch/>
        </p:blipFill>
        <p:spPr>
          <a:xfrm>
            <a:off x="9544198" y="4351734"/>
            <a:ext cx="988665" cy="297507"/>
          </a:xfrm>
          <a:prstGeom prst="rect">
            <a:avLst/>
          </a:prstGeom>
          <a:noFill/>
          <a:ln>
            <a:noFill/>
          </a:ln>
        </p:spPr>
      </p:pic>
      <p:sp>
        <p:nvSpPr>
          <p:cNvPr id="203" name="Google Shape;203;p20"/>
          <p:cNvSpPr txBox="1"/>
          <p:nvPr/>
        </p:nvSpPr>
        <p:spPr>
          <a:xfrm>
            <a:off x="571500" y="571500"/>
            <a:ext cx="11601450" cy="50289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The Prediction Engine Math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pic>
        <p:nvPicPr>
          <p:cNvPr descr="image.png" id="208" name="Google Shape;208;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9" name="Google Shape;209;p21"/>
          <p:cNvPicPr preferRelativeResize="0"/>
          <p:nvPr/>
        </p:nvPicPr>
        <p:blipFill rotWithShape="1">
          <a:blip r:embed="rId4">
            <a:alphaModFix/>
          </a:blip>
          <a:srcRect b="0" l="0" r="0" t="0"/>
          <a:stretch/>
        </p:blipFill>
        <p:spPr>
          <a:xfrm>
            <a:off x="571500" y="1455390"/>
            <a:ext cx="11049000" cy="4831109"/>
          </a:xfrm>
          <a:prstGeom prst="rect">
            <a:avLst/>
          </a:prstGeom>
          <a:noFill/>
          <a:ln>
            <a:noFill/>
          </a:ln>
        </p:spPr>
      </p:pic>
      <p:sp>
        <p:nvSpPr>
          <p:cNvPr id="210" name="Google Shape;210;p21"/>
          <p:cNvSpPr txBox="1"/>
          <p:nvPr/>
        </p:nvSpPr>
        <p:spPr>
          <a:xfrm>
            <a:off x="571500" y="5123408"/>
            <a:ext cx="11049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2F3020"/>
                </a:solidFill>
                <a:latin typeface="DM Sans"/>
                <a:ea typeface="DM Sans"/>
                <a:cs typeface="DM Sans"/>
                <a:sym typeface="DM Sans"/>
              </a:rPr>
              <a:t>The chart visualizes the top 5 positive baseline model coefficients (Beta) influencing the final risk index. Variables with larger coefficients, such as Glucose and BMI, exhibit the strongest statistical impact on Type 2 diabetes susceptibility.</a:t>
            </a:r>
            <a:endParaRPr/>
          </a:p>
        </p:txBody>
      </p:sp>
      <p:sp>
        <p:nvSpPr>
          <p:cNvPr id="211" name="Google Shape;211;p21"/>
          <p:cNvSpPr txBox="1"/>
          <p:nvPr/>
        </p:nvSpPr>
        <p:spPr>
          <a:xfrm>
            <a:off x="571500" y="571500"/>
            <a:ext cx="11601450" cy="502890"/>
          </a:xfrm>
          <a:prstGeom prst="rect">
            <a:avLst/>
          </a:prstGeom>
          <a:noFill/>
          <a:ln>
            <a:noFill/>
          </a:ln>
        </p:spPr>
        <p:txBody>
          <a:bodyPr anchorCtr="0" anchor="t"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12130D"/>
                </a:solidFill>
                <a:latin typeface="Poppins SemiBold"/>
                <a:ea typeface="Poppins SemiBold"/>
                <a:cs typeface="Poppins SemiBold"/>
                <a:sym typeface="Poppins SemiBold"/>
              </a:rPr>
              <a:t>Primary Risk Drivers (Coefficients)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